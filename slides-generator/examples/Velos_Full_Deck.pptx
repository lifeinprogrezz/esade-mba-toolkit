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Velos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From Box-Mover to Industry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E5E7EB"/>
                </a:solidFill>
                <a:latin typeface="Calibri"/>
              </a:rPr>
              <a:t>A Consortium Pivot to Cross the Disruption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Group X  ·  Technology &amp; Digital Business  ·  Prof. Marc Sansó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 — Anchor the Standard, Don't Own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Reject the binary. The third path completes the Triple Crown.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566160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3566160" cy="41148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200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Velos runs two structurally opposed business models on one balance sheet.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 b="1">
                <a:solidFill>
                  <a:srgbClr val="1F2937"/>
                </a:solidFill>
                <a:latin typeface="Calibri"/>
              </a:rPr>
              <a:t>Prime (Model 1.0): </a:t>
            </a:r>
            <a:r>
              <a:rPr sz="1200">
                <a:solidFill>
                  <a:srgbClr val="1F2937"/>
                </a:solidFill>
                <a:latin typeface="Calibri"/>
              </a:rPr>
              <a:t>linear cost structure, 10% gross margin, dying slowly.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 b="1">
                <a:solidFill>
                  <a:srgbClr val="1F2937"/>
                </a:solidFill>
                <a:latin typeface="Calibri"/>
              </a:rPr>
              <a:t>Trust (Model 2.0 attempt): </a:t>
            </a:r>
            <a:r>
              <a:rPr sz="1200">
                <a:solidFill>
                  <a:srgbClr val="1F2937"/>
                </a:solidFill>
                <a:latin typeface="Calibri"/>
              </a:rPr>
              <a:t>83% gross margin, burning €15M, negligible adoption.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 b="1">
                <a:solidFill>
                  <a:srgbClr val="1F2937"/>
                </a:solidFill>
                <a:latin typeface="Calibri"/>
              </a:rPr>
              <a:t>Stated ambition: </a:t>
            </a:r>
            <a:r>
              <a:rPr sz="1200">
                <a:solidFill>
                  <a:srgbClr val="1F2937"/>
                </a:solidFill>
                <a:latin typeface="Calibri"/>
              </a:rPr>
              <a:t>Model 3.0 — industry protocol via blockchain, smart contracts, single source of truth.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566160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630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965960"/>
            <a:ext cx="3566160" cy="41148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200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 b="1">
                <a:solidFill>
                  <a:srgbClr val="1F2937"/>
                </a:solidFill>
                <a:latin typeface="Calibri"/>
              </a:rPr>
              <a:t>Velos is leaping Model 1.0 → 3.0 directly </a:t>
            </a:r>
            <a:r>
              <a:rPr sz="1200">
                <a:solidFill>
                  <a:srgbClr val="1F2937"/>
                </a:solidFill>
                <a:latin typeface="Calibri"/>
              </a:rPr>
              <a:t>— skipping the 2.0 ecosystem work that makes 3.0 viable.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Triple Crown: ✓ Native Interface · ✓ Business Model · ✗ Dominant Ecosystem.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 b="1">
                <a:solidFill>
                  <a:srgbClr val="1F2937"/>
                </a:solidFill>
                <a:latin typeface="Calibri"/>
              </a:rPr>
              <a:t>Open-Source Paradox: </a:t>
            </a:r>
            <a:r>
              <a:rPr sz="1200">
                <a:solidFill>
                  <a:srgbClr val="1F2937"/>
                </a:solidFill>
                <a:latin typeface="Calibri"/>
              </a:rPr>
              <a:t>solo orchestration in pre-standardization means Velos pays every standardization cost while application-layer rivals capture the future margins.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566160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965960"/>
            <a:ext cx="3566160" cy="41148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200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 b="1">
                <a:solidFill>
                  <a:srgbClr val="1F2937"/>
                </a:solidFill>
                <a:latin typeface="Calibri"/>
              </a:rPr>
              <a:t>Open the protocol </a:t>
            </a:r>
            <a:r>
              <a:rPr sz="1200">
                <a:solidFill>
                  <a:srgbClr val="1F2937"/>
                </a:solidFill>
                <a:latin typeface="Calibri"/>
              </a:rPr>
              <a:t>as a neutral standard.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 b="1">
                <a:solidFill>
                  <a:srgbClr val="1F2937"/>
                </a:solidFill>
                <a:latin typeface="Calibri"/>
              </a:rPr>
              <a:t>Anchor a consortium </a:t>
            </a:r>
            <a:r>
              <a:rPr sz="1200">
                <a:solidFill>
                  <a:srgbClr val="1F2937"/>
                </a:solidFill>
                <a:latin typeface="Calibri"/>
              </a:rPr>
              <a:t>of 2–3 competitors + 1 bank + 1 customs body — the 2.0 ecosystem foundation.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 b="1">
                <a:solidFill>
                  <a:srgbClr val="1F2937"/>
                </a:solidFill>
                <a:latin typeface="Calibri"/>
              </a:rPr>
              <a:t>Gate Prime cash flow </a:t>
            </a:r>
            <a:r>
              <a:rPr sz="1200">
                <a:solidFill>
                  <a:srgbClr val="1F2937"/>
                </a:solidFill>
                <a:latin typeface="Calibri"/>
              </a:rPr>
              <a:t>against 18-month ecosystem milestones.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Sequence the transformation: build 2.0 first, claim 3.0 once the ecosystem is self-sustaining.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172200"/>
            <a:ext cx="112471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Recommendation in one line: Velos must stop trying to own the protocol — and start curating the ecosystem that makes the protocol 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Q1 · Velos Operates Two Structurally Opposed Business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Applying the 6 Business Model Dimensions to Prime vs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  <a:gridCol w="5120640"/>
              </a:tblGrid>
              <a:tr h="613954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Velos Prime (Model 1.0)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Velos Trust (Model 2.0 → 3.0 ambition)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613954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Monetization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Per-shipment freight fees · transactional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Subscription + transaction take-rate · recurring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613954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 Structure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Heavily variable: fuel, drivers, fleet, leases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Heavily fixed: R&amp;D, dev, cloud — marginal cost ≈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Margin vs Volume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Volume-driven · 10% gross margin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Margin-driven · 83% gross margin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613954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Average Selling Price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Per-shipment freight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Subscription tier + small % per transaction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Scalability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Linear: revenue and cost scale 1:1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Exponential post-breakeven · marginal cost ≈ 0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613956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 Profile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Fuel · recession · fleet utilization · commoditization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Adoption · ecosystem dependence · runway · Open-Source Paradox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These are not two divisions of one company — they are two different companies that share a balance sheet.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Q1 cont · Cost Structure Asymmetry Is the Strategic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Operating leverage: Prime's profit is bounded; Trust's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PRIME — Service Model (perfectly variable)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29200"/>
            <a:ext cx="5120640" cy="8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8000" cy="32004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640080" y="2103120"/>
            <a:ext cx="5120640" cy="2926080"/>
          </a:xfrm>
          <a:prstGeom prst="line">
            <a:avLst/>
          </a:prstGeom>
          <a:ln w="38100">
            <a:solidFill>
              <a:srgbClr val="0A2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0080" y="2468880"/>
            <a:ext cx="5120640" cy="219456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80560" y="1828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A2540"/>
                </a:solidFill>
                <a:latin typeface="Calibri"/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40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Volume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5544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$  Constant margin · no leverage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TRUST — SaaS Model (high fixed, ~0 marginal)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5029200"/>
            <a:ext cx="5120640" cy="8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1828800"/>
            <a:ext cx="8000" cy="32004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583680" y="3931920"/>
            <a:ext cx="512064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583680" y="1920240"/>
            <a:ext cx="5120640" cy="3108960"/>
          </a:xfrm>
          <a:prstGeom prst="line">
            <a:avLst/>
          </a:prstGeom>
          <a:ln w="38100">
            <a:solidFill>
              <a:srgbClr val="0A2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778240" y="3794760"/>
            <a:ext cx="228600" cy="2286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3657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Breakeven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828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A2540"/>
                </a:solidFill>
                <a:latin typeface="Calibri"/>
              </a:rPr>
              <a:t>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70331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Fixed costs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74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Volume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5544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$  Expanding margin · exponential leverage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49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$2X revenue → $2X profit  (capped)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49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  <a:latin typeface="Calibri"/>
              </a:rPr>
              <a:t>$2X revenue → $6X+ profit  (unbounded)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Trust's 83% gross margin is meaningless without volume. The unit economics demand scale that requires an ecosystem Velos doesn't yet have.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Q2 · Prime Was Built for Linear Value. Trust Demands Network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The Evolutionary Matrix exposes the structural mismatch.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4937760"/>
              </a:tblGrid>
              <a:tr h="670560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Velos Prime (Model 1.0)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Velos Trust (Model 2.0 → 3.0 ambition)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Defining logic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Product/industry-centric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Ecosystem-centric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Independent units · additive growth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Interdependent layers · asymmetric growth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Value creation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Move boxes A → B (linear value chain)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Orchestrate matching, trust, payments between independent agents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Moat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Operational efficiency (fragile, easily commoditized)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Shared infrastructure + switching costs + network effects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Growth math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Value = A + B + C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Value &gt; sum of parts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Velos is attempting Model 2.0 economics with a Model 1.0 mindset, while reaching for Model 3.0 outcomes alone. That is why adoption is stalled.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Q2 cont · The Real Endgame Is Model 3.0 — and That's Why the Strategy Stalls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Trust isn't just a platform play. Velos's stated ambition is to become the protocol layer of logistics.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444240" cy="4114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344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MODEL 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444240" cy="12801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344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A2540"/>
                </a:solidFill>
                <a:latin typeface="Calibri"/>
              </a:rPr>
              <a:t>LINEAR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316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0A2540"/>
                </a:solidFill>
                <a:latin typeface="Calibri"/>
              </a:rPr>
              <a:t>Velos Prime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316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Move boxes A → B · 10% margin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92880" y="2116836"/>
            <a:ext cx="274320" cy="292608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8640" y="1417320"/>
            <a:ext cx="3444240" cy="411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8640" y="1417320"/>
            <a:ext cx="344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MODEL 2.0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8640" y="1828800"/>
            <a:ext cx="3444240" cy="12801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640" y="1920240"/>
            <a:ext cx="344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D97706"/>
                </a:solidFill>
                <a:latin typeface="Calibri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800" y="2377440"/>
            <a:ext cx="316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0A2540"/>
                </a:solidFill>
                <a:latin typeface="Calibri"/>
              </a:rPr>
              <a:t>Velos Trust (attempt)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800" y="2697480"/>
            <a:ext cx="316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Orchestrate · 83% margin · no volume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94320" y="2116836"/>
            <a:ext cx="274320" cy="292608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0080" y="1417320"/>
            <a:ext cx="3444240" cy="411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0080" y="1417320"/>
            <a:ext cx="344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MODEL 3.0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60080" y="1828800"/>
            <a:ext cx="3444240" cy="12801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0080" y="1920240"/>
            <a:ext cx="3444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C0392B"/>
                </a:solidFill>
                <a:latin typeface="Calibri"/>
              </a:rPr>
              <a:t>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7240" y="2377440"/>
            <a:ext cx="316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0A2540"/>
                </a:solidFill>
                <a:latin typeface="Calibri"/>
              </a:rPr>
              <a:t>Velos's stated ambition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7240" y="2697480"/>
            <a:ext cx="316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Define the rules others build 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91840"/>
            <a:ext cx="548640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Why Trust is reaching for Model 3.0 (not just 2.0)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886200"/>
            <a:ext cx="51206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 b="1">
                <a:solidFill>
                  <a:srgbClr val="1F2937"/>
                </a:solidFill>
                <a:latin typeface="Calibri"/>
              </a:rPr>
              <a:t>Smart contracts: </a:t>
            </a:r>
            <a:r>
              <a:rPr sz="1100">
                <a:solidFill>
                  <a:srgbClr val="1F2937"/>
                </a:solidFill>
                <a:latin typeface="Calibri"/>
              </a:rPr>
              <a:t>autonomous execution of payments and compliance — no human intermediary.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 b="1">
                <a:solidFill>
                  <a:srgbClr val="1F2937"/>
                </a:solidFill>
                <a:latin typeface="Calibri"/>
              </a:rPr>
              <a:t>Single source of truth: </a:t>
            </a:r>
            <a:r>
              <a:rPr sz="1100">
                <a:solidFill>
                  <a:srgbClr val="1F2937"/>
                </a:solidFill>
                <a:latin typeface="Calibri"/>
              </a:rPr>
              <a:t>unified data layer across shippers, carriers, banks, customs.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 b="1">
                <a:solidFill>
                  <a:srgbClr val="1F2937"/>
                </a:solidFill>
                <a:latin typeface="Calibri"/>
              </a:rPr>
              <a:t>Industry-wide rules: </a:t>
            </a:r>
            <a:r>
              <a:rPr sz="1100">
                <a:solidFill>
                  <a:srgbClr val="1F2937"/>
                </a:solidFill>
                <a:latin typeface="Calibri"/>
              </a:rPr>
              <a:t>Velos sets the protocol all participants must operate within.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291840"/>
            <a:ext cx="548640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291840"/>
            <a:ext cx="54864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2918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leap problem · 1.0 → 3.0 skipping 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86200"/>
            <a:ext cx="51206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 b="1">
                <a:solidFill>
                  <a:srgbClr val="1F2937"/>
                </a:solidFill>
                <a:latin typeface="Calibri"/>
              </a:rPr>
              <a:t>No ecosystem: </a:t>
            </a:r>
            <a:r>
              <a:rPr sz="1100">
                <a:solidFill>
                  <a:srgbClr val="1F2937"/>
                </a:solidFill>
                <a:latin typeface="Calibri"/>
              </a:rPr>
              <a:t>Trust lacks critical mass — network effects haven't ignited.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 b="1">
                <a:solidFill>
                  <a:srgbClr val="1F2937"/>
                </a:solidFill>
                <a:latin typeface="Calibri"/>
              </a:rPr>
              <a:t>No standard: </a:t>
            </a:r>
            <a:r>
              <a:rPr sz="1100">
                <a:solidFill>
                  <a:srgbClr val="1F2937"/>
                </a:solidFill>
                <a:latin typeface="Calibri"/>
              </a:rPr>
              <a:t>no industry-wide adoption of Velos's protocol.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 b="1">
                <a:solidFill>
                  <a:srgbClr val="1F2937"/>
                </a:solidFill>
                <a:latin typeface="Calibri"/>
              </a:rPr>
              <a:t>No neutral trust: </a:t>
            </a:r>
            <a:r>
              <a:rPr sz="1100">
                <a:solidFill>
                  <a:srgbClr val="1F2937"/>
                </a:solidFill>
                <a:latin typeface="Calibri"/>
              </a:rPr>
              <a:t>competitors will not adopt infrastructure owned by a rival.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No ecosystem → no platform → no protocol. Velos is trying to define the rules of the system before building the system itself.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Q2 cont · Three Structural Reasons the 1.0 → 3.0 Leap Cannot Work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Single-firm platform plays fail in pre-standardization markets.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295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Chicken-and-egg unsolved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3596640" cy="3611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308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Trust requires banks, customs, and competitors to join in parallel.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Each waits for the others.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No critical interaction density → no network effects → no platform.</a:t>
            </a:r>
          </a:p>
        </p:txBody>
      </p:sp>
      <p:sp>
        <p:nvSpPr>
          <p:cNvPr id="11" name="Oval 10"/>
          <p:cNvSpPr/>
          <p:nvPr/>
        </p:nvSpPr>
        <p:spPr>
          <a:xfrm>
            <a:off x="4282440" y="155448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2520" y="1600200"/>
            <a:ext cx="295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Ownership ≠ orchestration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2440" y="2240280"/>
            <a:ext cx="3596640" cy="3611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5320" y="2377440"/>
            <a:ext cx="32308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Velos behaves as proprietor. Model 2.0 demands acting as host.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Competitors will not join an ecosystem owned by a competitor.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Governance must feel neutral, not extractive.</a:t>
            </a:r>
          </a:p>
        </p:txBody>
      </p:sp>
      <p:sp>
        <p:nvSpPr>
          <p:cNvPr id="15" name="Oval 14"/>
          <p:cNvSpPr/>
          <p:nvPr/>
        </p:nvSpPr>
        <p:spPr>
          <a:xfrm>
            <a:off x="8107680" y="155448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7760" y="1600200"/>
            <a:ext cx="295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No standards yet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7680" y="2240280"/>
            <a:ext cx="3596640" cy="3611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560" y="2377440"/>
            <a:ext cx="32308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Every counterparty requires a custom integration with Velos's proprietary protocol.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CAC explodes — every onboarding is bespoke.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This is the CFO's 'mud roads' problem.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Model 2.0 platforms cannot be willed into existence by a single firm. They emerge from coordinated multi-party investment in shared infrastructure.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Q3 · Trust Has Cleared Phases 1–3. Phase 4 Is the Cliff.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The Inevitability Cascade locates exactly where Velos is stranded.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8/13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entagon 6"/>
          <p:cNvSpPr/>
          <p:nvPr/>
        </p:nvSpPr>
        <p:spPr>
          <a:xfrm>
            <a:off x="457200" y="1645920"/>
            <a:ext cx="2743200" cy="1828800"/>
          </a:xfrm>
          <a:prstGeom prst="homePlat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502920" tIns="109728" bIns="10972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✓  </a:t>
            </a:r>
            <a:r>
              <a:rPr sz="1300" b="1">
                <a:solidFill>
                  <a:srgbClr val="FFFFFF"/>
                </a:solidFill>
                <a:latin typeface="Calibri"/>
              </a:rPr>
              <a:t>Phase 1
Tech Functionality</a:t>
            </a:r>
          </a:p>
          <a:p>
            <a:pPr algn="l"/>
            <a:r>
              <a:rPr sz="900">
                <a:solidFill>
                  <a:srgbClr val="FFFFFF"/>
                </a:solidFill>
                <a:latin typeface="Calibri"/>
              </a:rPr>
              <a:t>DLT works · smart contracts execute reliably</a:t>
            </a:r>
          </a:p>
        </p:txBody>
      </p:sp>
      <p:sp>
        <p:nvSpPr>
          <p:cNvPr id="8" name="Pentagon 7"/>
          <p:cNvSpPr/>
          <p:nvPr/>
        </p:nvSpPr>
        <p:spPr>
          <a:xfrm>
            <a:off x="3200400" y="1645920"/>
            <a:ext cx="2743200" cy="1828800"/>
          </a:xfrm>
          <a:prstGeom prst="homePlat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502920" tIns="109728" bIns="10972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✓  </a:t>
            </a:r>
            <a:r>
              <a:rPr sz="1300" b="1">
                <a:solidFill>
                  <a:srgbClr val="FFFFFF"/>
                </a:solidFill>
                <a:latin typeface="Calibri"/>
              </a:rPr>
              <a:t>Phase 2
Hard Use Cases</a:t>
            </a:r>
          </a:p>
          <a:p>
            <a:pPr algn="l"/>
            <a:r>
              <a:rPr sz="900">
                <a:solidFill>
                  <a:srgbClr val="FFFFFF"/>
                </a:solidFill>
                <a:latin typeface="Calibri"/>
              </a:rPr>
              <a:t>20% admin cost reduction is real, repeatable</a:t>
            </a:r>
          </a:p>
        </p:txBody>
      </p:sp>
      <p:sp>
        <p:nvSpPr>
          <p:cNvPr id="9" name="Pentagon 8"/>
          <p:cNvSpPr/>
          <p:nvPr/>
        </p:nvSpPr>
        <p:spPr>
          <a:xfrm>
            <a:off x="5943600" y="1645920"/>
            <a:ext cx="2743200" cy="1828800"/>
          </a:xfrm>
          <a:prstGeom prst="homePlat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502920" tIns="109728" bIns="10972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!  </a:t>
            </a:r>
            <a:r>
              <a:rPr sz="1300" b="1">
                <a:solidFill>
                  <a:srgbClr val="FFFFFF"/>
                </a:solidFill>
                <a:latin typeface="Calibri"/>
              </a:rPr>
              <a:t>Phase 3
Business Model</a:t>
            </a:r>
          </a:p>
          <a:p>
            <a:pPr algn="l"/>
            <a:r>
              <a:rPr sz="900">
                <a:solidFill>
                  <a:srgbClr val="FFFFFF"/>
                </a:solidFill>
                <a:latin typeface="Calibri"/>
              </a:rPr>
              <a:t>83% gross margin proves logic; volume missing</a:t>
            </a:r>
          </a:p>
        </p:txBody>
      </p:sp>
      <p:sp>
        <p:nvSpPr>
          <p:cNvPr id="10" name="Pentagon 9"/>
          <p:cNvSpPr/>
          <p:nvPr/>
        </p:nvSpPr>
        <p:spPr>
          <a:xfrm>
            <a:off x="8686800" y="1645920"/>
            <a:ext cx="2743200" cy="1828800"/>
          </a:xfrm>
          <a:prstGeom prst="homePlat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502920" tIns="109728" bIns="109728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✗  </a:t>
            </a:r>
            <a:r>
              <a:rPr sz="1300" b="1">
                <a:solidFill>
                  <a:srgbClr val="FFFFFF"/>
                </a:solidFill>
                <a:latin typeface="Calibri"/>
              </a:rPr>
              <a:t>Phase 4
Dominant Ecosystem</a:t>
            </a:r>
          </a:p>
          <a:p>
            <a:pPr algn="l"/>
            <a:r>
              <a:rPr sz="900">
                <a:solidFill>
                  <a:srgbClr val="FFFFFF"/>
                </a:solidFill>
                <a:latin typeface="Calibri"/>
              </a:rPr>
              <a:t>No standards · no orchestrator · no self-propulsion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↑  Phase 4 is the Disruption Gate — the only phase where structural disruption actually occurs.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247120" cy="17373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Strategic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Without crossing Phase 4, the first three phases are stranded investments.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Velos has built the engine; the road network does not exist yet.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Solo investment in Phase 4 is structurally a losing bet — standards emerge from multi-party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Q3 cont · The 'Trough of Disillusionment' Is a Kinetic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Layers 1–3 raced ahead. Layer 4 hasn't started.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9/13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Layer 1 — Tech functionality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719072"/>
            <a:ext cx="9144000" cy="21945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2560320" y="1664208"/>
            <a:ext cx="8686800" cy="329184"/>
          </a:xfrm>
          <a:prstGeom prst="rightArrow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Layer 2 — Hard use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450592"/>
            <a:ext cx="9144000" cy="21945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560320" y="2395728"/>
            <a:ext cx="6400800" cy="329184"/>
          </a:xfrm>
          <a:prstGeom prst="rightArrow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Layer 3 — Business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3182112"/>
            <a:ext cx="9144000" cy="21945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2560320" y="3127248"/>
            <a:ext cx="5029200" cy="329184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490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Layer 4 — Dominant ecosystem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3913632"/>
            <a:ext cx="9144000" cy="21945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2560320" y="3858768"/>
            <a:ext cx="1371600" cy="329184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ghtning Bolt 18"/>
          <p:cNvSpPr/>
          <p:nvPr/>
        </p:nvSpPr>
        <p:spPr>
          <a:xfrm>
            <a:off x="4023360" y="3831336"/>
            <a:ext cx="320040" cy="384048"/>
          </a:xfrm>
          <a:prstGeom prst="lightningBol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What this actually 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7492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The CTO's 'Trough of Disillusionment' is not a hype crash — it is the predictable consequence of Layer 4 lagging Layers 1–3.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Banks, customs authorities, ERP vendors, and competitor logistics firms are the rate limit — not the technology.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The fix is not more code. It is multi-party governance.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Q3 cont · Solo Orchestration Walks Velos Into the Open-Source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The firm that pays for the standard rarely captures its profits.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10/13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4297680"/>
          </a:xfrm>
          <a:prstGeom prst="rect">
            <a:avLst/>
          </a:prstGeom>
          <a:solidFill>
            <a:srgbClr val="F9FAFB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SOLO PATH (current trajectory)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502920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Velos absorbs €15M+ in standardization costs alone.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Each new counterparty is a custom integration → CAC keeps rising.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When industry-wide standards eventually emerge anyway, application-layer competitors enter cheaply.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 b="1">
                <a:solidFill>
                  <a:srgbClr val="1F2937"/>
                </a:solidFill>
                <a:latin typeface="Calibri"/>
              </a:rPr>
              <a:t>Outcome: </a:t>
            </a:r>
            <a:r>
              <a:rPr sz="1200">
                <a:solidFill>
                  <a:srgbClr val="1F2937"/>
                </a:solidFill>
                <a:latin typeface="Calibri"/>
              </a:rPr>
              <a:t>Velos becomes the unpaid infrastructure for someone else's business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486400" cy="4297680"/>
          </a:xfrm>
          <a:prstGeom prst="rect">
            <a:avLst/>
          </a:prstGeom>
          <a:solidFill>
            <a:srgbClr val="F9FAFB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48640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CONSORTIUM PATH (recommended)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502920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Standardization costs shared across founding members.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Onboarding becomes self-service via the open standard.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Velos anchors governance and sets the founding rules.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 b="1">
                <a:solidFill>
                  <a:srgbClr val="1F2937"/>
                </a:solidFill>
                <a:latin typeface="Calibri"/>
              </a:rPr>
              <a:t>Outcome: </a:t>
            </a:r>
            <a:r>
              <a:rPr sz="1200">
                <a:solidFill>
                  <a:srgbClr val="1F2937"/>
                </a:solidFill>
                <a:latin typeface="Calibri"/>
              </a:rPr>
              <a:t>Velos captures premium positioning as standard curator + reference implementation.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In B2B ecosystems, the firm that pays for standardization rarely captures its profits — unless it builds governance leverage early.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Q4 · Both Board Options Are Losing Moves — A Third Path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Comparing Retrench, Solo Double Down, and the Consortium Pivot.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11/13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926080"/>
                <a:gridCol w="3474720"/>
              </a:tblGrid>
              <a:tr h="670560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Retrench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Solo Double Down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Consortium Pivot ★</a:t>
                      </a:r>
                    </a:p>
                  </a:txBody>
                  <a:tcPr marL="91440" marR="91440" marT="45720" marB="45720">
                    <a:solidFill>
                      <a:srgbClr val="0A2540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Time horizon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Dies slowly (~10 yrs)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Cash crisis in ~2 yrs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Standards emerge in 3–5 yrs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Primary risk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Strategic obsolescence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Solvency + Open-Source Paradox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Governance complexity, slower ramp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Triple Crown progress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Abandons all three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Stalled at Interface + BM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Completes the third (Ecosystem)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Profit pool capture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None — commoditized utility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Infrastructure layer at best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Anchor + standard curator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Optionality</a:t>
                      </a:r>
                    </a:p>
                  </a:txBody>
                  <a:tcPr marL="91440" marR="91440" marT="45720" marB="45720">
                    <a:solidFill>
                      <a:srgbClr val="1B3A5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High — spin out, license, or scale</a:t>
                      </a:r>
                    </a:p>
                  </a:txBody>
                  <a:tcPr marL="91440" marR="91440" marT="45720" marB="4572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Retrench and Double Down both accept defeat — one slow, one fast. Only the Consortium Pivot completes the Triple Crown.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Q4 · The Consortium Pivot Playbook —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Convert competitors into co-founders of a shared standard.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12/13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295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OPEN THE PROTOCOL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3596640" cy="3611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308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Release core data formats as an open standard under neutral governance.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Converts proprietary lock-in (which is blocking adoption) into ecosystem gravity.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Velos retains the reference-implementation premium.</a:t>
            </a:r>
          </a:p>
        </p:txBody>
      </p:sp>
      <p:sp>
        <p:nvSpPr>
          <p:cNvPr id="11" name="Oval 10"/>
          <p:cNvSpPr/>
          <p:nvPr/>
        </p:nvSpPr>
        <p:spPr>
          <a:xfrm>
            <a:off x="4282440" y="155448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2520" y="1600200"/>
            <a:ext cx="295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ANCHOR THE CONSORTIUM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2440" y="2240280"/>
            <a:ext cx="3596640" cy="3611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5320" y="2377440"/>
            <a:ext cx="32308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Recruit 2–3 logistics competitors + 1 anchor bank + 1 customs/regulator as founding members.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Solves chicken-and-egg by guaranteeing minimum interaction density on day one.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Activates Network Bridging defense (Quadrant D): synergies across previously separate networks.</a:t>
            </a:r>
          </a:p>
        </p:txBody>
      </p:sp>
      <p:sp>
        <p:nvSpPr>
          <p:cNvPr id="15" name="Oval 14"/>
          <p:cNvSpPr/>
          <p:nvPr/>
        </p:nvSpPr>
        <p:spPr>
          <a:xfrm>
            <a:off x="8107680" y="1554480"/>
            <a:ext cx="502920" cy="50292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7760" y="1600200"/>
            <a:ext cx="2956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2540"/>
                </a:solidFill>
                <a:latin typeface="Calibri"/>
              </a:rPr>
              <a:t>GATE THE RUNWAY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7680" y="2240280"/>
            <a:ext cx="3596640" cy="36118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560" y="2377440"/>
            <a:ext cx="32308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Prime cash funds Trust against hard 18-month milestones: ARR, consortium signatures, integration depth.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If milestones miss → structured spin-out of Trust into the consortium; Velos harvests Prime.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A2540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Caps downside without forcing a binary today.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Each move is reversible. Together they build the Model 2.0 ecosystem that makes Model 3.0 viable — sequential, not simultaneous.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Q4 · Recommendation — Anchor the Standard. Don't Own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An 18-month gated path with explicit kill criteria preserves optionality.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13/13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340864"/>
            <a:ext cx="9418320" cy="1645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2048256"/>
            <a:ext cx="457200" cy="4572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2540"/>
                </a:solidFill>
                <a:latin typeface="Calibri"/>
              </a:rPr>
              <a:t>Month 0–12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Open protocol · recruit consortium · target 3 founding members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0" y="2048256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Month 12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718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≥2 consortium members signed + ≥€5M ARR commitments</a:t>
            </a:r>
          </a:p>
        </p:txBody>
      </p:sp>
      <p:sp>
        <p:nvSpPr>
          <p:cNvPr id="14" name="Oval 13"/>
          <p:cNvSpPr/>
          <p:nvPr/>
        </p:nvSpPr>
        <p:spPr>
          <a:xfrm>
            <a:off x="10561320" y="2048256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C0392B"/>
                </a:solidFill>
                <a:latin typeface="Calibri"/>
              </a:rPr>
              <a:t>Month 18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718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F2937"/>
                </a:solidFill>
                <a:latin typeface="Calibri"/>
              </a:rPr>
              <a:t>Standard ratified · first cross-firm live transaction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1124712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If any gate misses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Structured spin-out of Trust into the consortium (or to a strategic acquirer / PE).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A2540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Prime returns to optimization mode with proceeds — capital recycled, optionality preserved.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15000"/>
            <a:ext cx="11247120" cy="685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The freight market is dying slowly. The platform market is not yet born. The Consortium Pivot is how Velos buys the right to be born.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