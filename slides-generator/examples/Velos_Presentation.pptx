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Velos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From Box-Mover to Industry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E5E7EB"/>
                </a:solidFill>
                <a:latin typeface="Calibri"/>
              </a:rPr>
              <a:t>A Consortium Pivot to Cross the Disruption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Group X  ·  [Presenter A] &amp; [Presenter B]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Technology &amp; Digital Business  ·  Prof. Marc Sansó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Diagnosis · Velos Is One Phase Short of Disruption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Two structurally opposed business models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28800"/>
                <a:gridCol w="2103120"/>
              </a:tblGrid>
              <a:tr h="45720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Prime (1.0)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Trust (2.0 → 3.0 reach)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structure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Variable · linear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Fixed · exponential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Capped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Unbounded post-volume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Inevitability Cascade — Velos is stranded at Phase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1179576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 </a:t>
            </a:r>
            <a:r>
              <a:rPr sz="1100" b="1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82496" y="4562856"/>
            <a:ext cx="164592" cy="201168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2808" y="4160520"/>
            <a:ext cx="1179576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 </a:t>
            </a:r>
            <a:r>
              <a:rPr sz="1100" b="1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18104" y="4562856"/>
            <a:ext cx="164592" cy="201168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8416" y="4160520"/>
            <a:ext cx="1179576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  </a:t>
            </a:r>
            <a:r>
              <a:rPr sz="11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53712" y="4562856"/>
            <a:ext cx="164592" cy="201168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64024" y="4160520"/>
            <a:ext cx="1179576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✗  </a:t>
            </a:r>
            <a:r>
              <a:rPr sz="1100" b="1">
                <a:solidFill>
                  <a:srgbClr val="FFFFFF"/>
                </a:solidFill>
                <a:latin typeface="Calibri"/>
              </a:rPr>
              <a:t>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C0392B"/>
                </a:solidFill>
                <a:latin typeface="Calibri"/>
              </a:rPr>
              <a:t>↑ Phase 4 = the Disruption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Triple Crown audit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7830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Native Interface — DLT works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56032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51460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Dominant Business Model — 83% gross margin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29184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2461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Dominant Ecosystem — no standards, no orchestrator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97680"/>
            <a:ext cx="530352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434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Velos is leaping 1.0 → 3.0 alone, skipping the 2.0 ecosystem work. Open-Source Paradox: Velos pays for the standard, application-layer rivals capture the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 · Anchor the Standard. Don't Own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OPEN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596640" cy="26060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308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Release data formats as open standard.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Convert proprietary lock-in into ecosystem gravity.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Retain reference-implementation premium.</a:t>
            </a:r>
          </a:p>
        </p:txBody>
      </p:sp>
      <p:sp>
        <p:nvSpPr>
          <p:cNvPr id="9" name="Oval 8"/>
          <p:cNvSpPr/>
          <p:nvPr/>
        </p:nvSpPr>
        <p:spPr>
          <a:xfrm>
            <a:off x="4282440" y="128016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2520" y="132588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ANCHOR CONSORTIUM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2440" y="1965960"/>
            <a:ext cx="3596640" cy="26060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5320" y="2103120"/>
            <a:ext cx="32308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2–3 competitors + 1 bank + 1 customs body as co-founders.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Solves chicken-and-egg.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Activates Network Bridging defense (Quadrant D).</a:t>
            </a:r>
          </a:p>
        </p:txBody>
      </p:sp>
      <p:sp>
        <p:nvSpPr>
          <p:cNvPr id="13" name="Oval 12"/>
          <p:cNvSpPr/>
          <p:nvPr/>
        </p:nvSpPr>
        <p:spPr>
          <a:xfrm>
            <a:off x="8107680" y="128016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7760" y="132588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GATE RUNWAY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65960"/>
            <a:ext cx="3596640" cy="26060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2103120"/>
            <a:ext cx="32308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Prime cash funds Trust on 18-month milestones (ARR · signatures · ratification).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Spin out if missed.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Caps downside, preserves optionality.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800600"/>
          <a:ext cx="112471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74720"/>
                <a:gridCol w="4572000"/>
              </a:tblGrid>
              <a:tr h="472440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Retrench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Solo Double Down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Consortium Pivot ★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472440"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Dies in ~10 years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Dies in ~2 years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Only path that completes the Triple Crown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472440"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Abandons all three phases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Stranded at Phase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Crosses the Disruption Gate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Velos must stop trying to own the platform — and start curating the standard others build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